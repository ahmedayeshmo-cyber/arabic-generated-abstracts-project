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1"/>
  </p:sldMasterIdLst>
  <p:sldIdLst>
    <p:sldId id="261" r:id="rId2"/>
    <p:sldId id="259" r:id="rId3"/>
    <p:sldId id="262" r:id="rId4"/>
    <p:sldId id="263" r:id="rId5"/>
    <p:sldId id="276" r:id="rId6"/>
    <p:sldId id="272" r:id="rId7"/>
    <p:sldId id="277" r:id="rId8"/>
    <p:sldId id="278" r:id="rId9"/>
    <p:sldId id="279" r:id="rId10"/>
    <p:sldId id="280" r:id="rId11"/>
    <p:sldId id="281" r:id="rId12"/>
    <p:sldId id="264" r:id="rId13"/>
    <p:sldId id="267" r:id="rId14"/>
    <p:sldId id="265" r:id="rId15"/>
    <p:sldId id="270" r:id="rId16"/>
    <p:sldId id="260"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7" d="100"/>
          <a:sy n="77" d="100"/>
        </p:scale>
        <p:origin x="1618"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8129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995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382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GB"/>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491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8633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9413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02305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0993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96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54346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885304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2705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569570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1212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7860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2362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12/7/2025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6996976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aclanthology.org/2025.arabicnlp-sharedtasks.1/?utm_source=chatgpt.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FF0500-1E2D-5241-EB24-05EC78980CD0}"/>
              </a:ext>
            </a:extLst>
          </p:cNvPr>
          <p:cNvSpPr>
            <a:spLocks noGrp="1"/>
          </p:cNvSpPr>
          <p:nvPr>
            <p:ph idx="1"/>
          </p:nvPr>
        </p:nvSpPr>
        <p:spPr>
          <a:xfrm>
            <a:off x="1399370" y="2872659"/>
            <a:ext cx="6345260" cy="3530600"/>
          </a:xfrm>
        </p:spPr>
        <p:txBody>
          <a:bodyPr/>
          <a:lstStyle/>
          <a:p>
            <a:pPr marL="0" indent="0" algn="ctr">
              <a:buNone/>
            </a:pPr>
            <a:r>
              <a:rPr lang="en-US" sz="3200" b="1" dirty="0">
                <a:solidFill>
                  <a:schemeClr val="accent1"/>
                </a:solidFill>
                <a:latin typeface="+mj-lt"/>
                <a:ea typeface="+mj-ea"/>
                <a:cs typeface="+mj-cs"/>
              </a:rPr>
              <a:t>Human and AI Arabic Text Detection </a:t>
            </a:r>
          </a:p>
        </p:txBody>
      </p:sp>
    </p:spTree>
    <p:extLst>
      <p:ext uri="{BB962C8B-B14F-4D97-AF65-F5344CB8AC3E}">
        <p14:creationId xmlns:p14="http://schemas.microsoft.com/office/powerpoint/2010/main" val="3100307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229C67-22DA-F591-7F7A-2C7C887AD318}"/>
              </a:ext>
            </a:extLst>
          </p:cNvPr>
          <p:cNvSpPr>
            <a:spLocks noGrp="1"/>
          </p:cNvSpPr>
          <p:nvPr>
            <p:ph type="title"/>
          </p:nvPr>
        </p:nvSpPr>
        <p:spPr>
          <a:xfrm>
            <a:off x="865970" y="1477704"/>
            <a:ext cx="6343672" cy="709865"/>
          </a:xfrm>
        </p:spPr>
        <p:txBody>
          <a:bodyPr>
            <a:normAutofit fontScale="90000"/>
          </a:bodyPr>
          <a:lstStyle/>
          <a:p>
            <a:r>
              <a:rPr lang="en-US" b="1" dirty="0"/>
              <a:t>Introduction</a:t>
            </a:r>
            <a:br>
              <a:rPr lang="en-US" b="1" dirty="0"/>
            </a:br>
            <a:br>
              <a:rPr lang="en-US" b="1" dirty="0"/>
            </a:br>
            <a:br>
              <a:rPr lang="en-US" b="1" dirty="0"/>
            </a:br>
            <a:endParaRPr lang="en-US" b="1" dirty="0"/>
          </a:p>
        </p:txBody>
      </p:sp>
      <p:sp>
        <p:nvSpPr>
          <p:cNvPr id="4" name="Rectangle 1">
            <a:extLst>
              <a:ext uri="{FF2B5EF4-FFF2-40B4-BE49-F238E27FC236}">
                <a16:creationId xmlns:a16="http://schemas.microsoft.com/office/drawing/2014/main" id="{9E27822B-1A81-356A-069E-F93555972301}"/>
              </a:ext>
            </a:extLst>
          </p:cNvPr>
          <p:cNvSpPr>
            <a:spLocks noGrp="1" noChangeArrowheads="1"/>
          </p:cNvSpPr>
          <p:nvPr>
            <p:ph idx="1"/>
          </p:nvPr>
        </p:nvSpPr>
        <p:spPr bwMode="auto">
          <a:xfrm>
            <a:off x="367747" y="3114747"/>
            <a:ext cx="665248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dirty="0"/>
              <a:t>This study aims to develop an effective detection framework capable of differentiating between both types of writing using a combination of classical machine-learning models as Logistic Regression, Support Vector Machines (SVM), and XGBoost, also Feedforward Neural Network (FFNN)used. The results highlight the potential of combining traditional algorithms with neural approaches to improve detection accuracy, valuable insights, and AI safety applications.</a:t>
            </a:r>
          </a:p>
        </p:txBody>
      </p:sp>
    </p:spTree>
    <p:extLst>
      <p:ext uri="{BB962C8B-B14F-4D97-AF65-F5344CB8AC3E}">
        <p14:creationId xmlns:p14="http://schemas.microsoft.com/office/powerpoint/2010/main" val="3883481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2B8C2-1381-F3EA-A4B3-80FC729E3C1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376C65B-A326-CB53-5300-74D3FECDC42D}"/>
              </a:ext>
            </a:extLst>
          </p:cNvPr>
          <p:cNvSpPr>
            <a:spLocks noGrp="1"/>
          </p:cNvSpPr>
          <p:nvPr>
            <p:ph type="title"/>
          </p:nvPr>
        </p:nvSpPr>
        <p:spPr>
          <a:xfrm>
            <a:off x="520771" y="701878"/>
            <a:ext cx="8523837" cy="709865"/>
          </a:xfrm>
        </p:spPr>
        <p:txBody>
          <a:bodyPr/>
          <a:lstStyle/>
          <a:p>
            <a:r>
              <a:rPr lang="en-US" b="1" dirty="0"/>
              <a:t>Dataset</a:t>
            </a:r>
          </a:p>
        </p:txBody>
      </p:sp>
      <p:sp>
        <p:nvSpPr>
          <p:cNvPr id="4" name="Rectangle 1">
            <a:extLst>
              <a:ext uri="{FF2B5EF4-FFF2-40B4-BE49-F238E27FC236}">
                <a16:creationId xmlns:a16="http://schemas.microsoft.com/office/drawing/2014/main" id="{8E75613C-44D2-49EF-6BEF-6F9A2FE8D73E}"/>
              </a:ext>
            </a:extLst>
          </p:cNvPr>
          <p:cNvSpPr>
            <a:spLocks noGrp="1" noChangeArrowheads="1"/>
          </p:cNvSpPr>
          <p:nvPr>
            <p:ph idx="1"/>
          </p:nvPr>
        </p:nvSpPr>
        <p:spPr bwMode="auto">
          <a:xfrm>
            <a:off x="613553" y="2925778"/>
            <a:ext cx="6495169"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solidFill>
                  <a:schemeClr val="tx1"/>
                </a:solidFill>
              </a:rPr>
              <a:t>The dataset contains:</a:t>
            </a:r>
          </a:p>
          <a:p>
            <a:r>
              <a:rPr lang="en-US" b="1" dirty="0"/>
              <a:t>Human-written abstracts</a:t>
            </a:r>
            <a:endParaRPr lang="en-US" dirty="0"/>
          </a:p>
          <a:p>
            <a:r>
              <a:rPr lang="en-US" b="1" dirty="0"/>
              <a:t>AI-generated abstracts</a:t>
            </a:r>
            <a:endParaRPr lang="en-US" dirty="0"/>
          </a:p>
          <a:p>
            <a:r>
              <a:rPr lang="en-US" dirty="0">
                <a:solidFill>
                  <a:schemeClr val="tx1"/>
                </a:solidFill>
              </a:rPr>
              <a:t> </a:t>
            </a:r>
            <a:r>
              <a:rPr lang="en-US" b="1" dirty="0">
                <a:solidFill>
                  <a:schemeClr val="tx1"/>
                </a:solidFill>
              </a:rPr>
              <a:t>Total samples</a:t>
            </a:r>
            <a:r>
              <a:rPr lang="en-US" dirty="0">
                <a:solidFill>
                  <a:schemeClr val="tx1"/>
                </a:solidFill>
              </a:rPr>
              <a:t>: 41,940</a:t>
            </a:r>
          </a:p>
        </p:txBody>
      </p:sp>
    </p:spTree>
    <p:extLst>
      <p:ext uri="{BB962C8B-B14F-4D97-AF65-F5344CB8AC3E}">
        <p14:creationId xmlns:p14="http://schemas.microsoft.com/office/powerpoint/2010/main" val="2100175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D18C7-10DF-236A-D068-58EA2FC036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003F48C-4D88-2DE3-A2A4-DA948E195C08}"/>
              </a:ext>
            </a:extLst>
          </p:cNvPr>
          <p:cNvSpPr>
            <a:spLocks noGrp="1"/>
          </p:cNvSpPr>
          <p:nvPr>
            <p:ph type="title"/>
          </p:nvPr>
        </p:nvSpPr>
        <p:spPr>
          <a:xfrm>
            <a:off x="602279" y="1113911"/>
            <a:ext cx="7939442" cy="709865"/>
          </a:xfrm>
        </p:spPr>
        <p:txBody>
          <a:bodyPr/>
          <a:lstStyle/>
          <a:p>
            <a:r>
              <a:rPr lang="en-US" b="1" dirty="0"/>
              <a:t>Feature Engineering</a:t>
            </a:r>
            <a:endParaRPr lang="en-US" dirty="0"/>
          </a:p>
        </p:txBody>
      </p:sp>
      <p:sp>
        <p:nvSpPr>
          <p:cNvPr id="4" name="Rectangle 1">
            <a:extLst>
              <a:ext uri="{FF2B5EF4-FFF2-40B4-BE49-F238E27FC236}">
                <a16:creationId xmlns:a16="http://schemas.microsoft.com/office/drawing/2014/main" id="{1CE4012C-D67C-267F-C2E8-A06C19628D95}"/>
              </a:ext>
            </a:extLst>
          </p:cNvPr>
          <p:cNvSpPr>
            <a:spLocks noGrp="1" noChangeArrowheads="1"/>
          </p:cNvSpPr>
          <p:nvPr>
            <p:ph idx="1"/>
          </p:nvPr>
        </p:nvSpPr>
        <p:spPr bwMode="auto">
          <a:xfrm>
            <a:off x="309381" y="2513267"/>
            <a:ext cx="7084477"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Feature 2 Ratio of Letters to Total Characters</a:t>
            </a:r>
          </a:p>
          <a:p>
            <a:r>
              <a:rPr lang="en-US" dirty="0"/>
              <a:t>This feature measures the proportion of alphabetic characters (Arabic and English) relative to all characters:</a:t>
            </a:r>
          </a:p>
          <a:p>
            <a:r>
              <a:rPr lang="en-US" dirty="0"/>
              <a:t>letters / </a:t>
            </a:r>
            <a:r>
              <a:rPr lang="en-US" dirty="0" err="1"/>
              <a:t>total_characters</a:t>
            </a:r>
            <a:endParaRPr lang="en-US" dirty="0"/>
          </a:p>
          <a:p>
            <a:pPr marL="0" indent="0">
              <a:buNone/>
            </a:pPr>
            <a:endParaRPr lang="en-US" dirty="0"/>
          </a:p>
          <a:p>
            <a:pPr marL="0" indent="0">
              <a:buNone/>
            </a:pPr>
            <a:r>
              <a:rPr lang="en-US" b="1" dirty="0"/>
              <a:t>Feature 21 Brunet’s W Measure</a:t>
            </a:r>
          </a:p>
          <a:p>
            <a:r>
              <a:rPr lang="en-US" dirty="0"/>
              <a:t>This measure captures the richness of vocabulary in the text. Human authors typically exhibit higher lexical variability, while some AI-generated texts short or templated responses, may show lower diversity.</a:t>
            </a:r>
          </a:p>
          <a:p>
            <a:pPr marL="0" indent="0">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7263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73ED6-E88A-5CA3-8F53-30AF52E9C7C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F89B98-F431-DAE2-DAC3-891F7F43EE2A}"/>
              </a:ext>
            </a:extLst>
          </p:cNvPr>
          <p:cNvSpPr>
            <a:spLocks noGrp="1"/>
          </p:cNvSpPr>
          <p:nvPr>
            <p:ph type="title"/>
          </p:nvPr>
        </p:nvSpPr>
        <p:spPr>
          <a:xfrm>
            <a:off x="602279" y="1113911"/>
            <a:ext cx="7939442" cy="709865"/>
          </a:xfrm>
        </p:spPr>
        <p:txBody>
          <a:bodyPr/>
          <a:lstStyle/>
          <a:p>
            <a:r>
              <a:rPr lang="en-US" b="1" dirty="0"/>
              <a:t>Feature Engineering</a:t>
            </a:r>
            <a:endParaRPr lang="en-US" dirty="0"/>
          </a:p>
        </p:txBody>
      </p:sp>
      <p:sp>
        <p:nvSpPr>
          <p:cNvPr id="4" name="Rectangle 1">
            <a:extLst>
              <a:ext uri="{FF2B5EF4-FFF2-40B4-BE49-F238E27FC236}">
                <a16:creationId xmlns:a16="http://schemas.microsoft.com/office/drawing/2014/main" id="{4394042A-6963-9ECE-9ABB-7F15D7F3A15B}"/>
              </a:ext>
            </a:extLst>
          </p:cNvPr>
          <p:cNvSpPr>
            <a:spLocks noGrp="1" noChangeArrowheads="1"/>
          </p:cNvSpPr>
          <p:nvPr>
            <p:ph idx="1"/>
          </p:nvPr>
        </p:nvSpPr>
        <p:spPr bwMode="auto">
          <a:xfrm>
            <a:off x="309381" y="1969529"/>
            <a:ext cx="7084477" cy="4996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Feature 40  Sentence Length Frequency Distribution</a:t>
            </a:r>
          </a:p>
          <a:p>
            <a:pPr marL="0" indent="0">
              <a:buNone/>
            </a:pPr>
            <a:r>
              <a:rPr lang="en-US" dirty="0"/>
              <a:t>It generates a distribution of sentence lengths within each document. This distribution reveals:</a:t>
            </a:r>
          </a:p>
          <a:p>
            <a:pPr lvl="0"/>
            <a:r>
              <a:rPr lang="en-US" dirty="0"/>
              <a:t>Stylistic preferences (short vs. long sentences)</a:t>
            </a:r>
          </a:p>
          <a:p>
            <a:pPr lvl="0"/>
            <a:r>
              <a:rPr lang="en-US" dirty="0"/>
              <a:t>Rhythm and pacing</a:t>
            </a:r>
          </a:p>
          <a:p>
            <a:pPr lvl="0"/>
            <a:r>
              <a:rPr lang="en-US" dirty="0"/>
              <a:t>Homogeneity of structure</a:t>
            </a:r>
          </a:p>
          <a:p>
            <a:pPr marL="0" indent="0">
              <a:buNone/>
            </a:pPr>
            <a:endParaRPr lang="en-US" b="1" dirty="0"/>
          </a:p>
          <a:p>
            <a:pPr marL="0" indent="0">
              <a:buNone/>
            </a:pPr>
            <a:r>
              <a:rPr lang="en-US" b="1" dirty="0"/>
              <a:t>Feature 59 Count of the Top-500 Embedding Vocabulary</a:t>
            </a:r>
          </a:p>
          <a:p>
            <a:pPr marL="0" indent="0">
              <a:buNone/>
            </a:pPr>
            <a:r>
              <a:rPr lang="en-US" dirty="0"/>
              <a:t>This feature reflects the extent to which the text uses common lexical items favored by LLMs. AI-generated text often overuses high-frequency words in the model's embedding vocabulary, while human authors may use more domain-specific or uncommon terminology.</a:t>
            </a:r>
          </a:p>
          <a:p>
            <a:pPr marL="0" indent="0">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2383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21384-8534-038B-1A7F-07FDF4BBA55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15F8C6A-9416-7BA0-F7D0-CEA205FD77FD}"/>
              </a:ext>
            </a:extLst>
          </p:cNvPr>
          <p:cNvSpPr>
            <a:spLocks noGrp="1"/>
          </p:cNvSpPr>
          <p:nvPr>
            <p:ph type="title"/>
          </p:nvPr>
        </p:nvSpPr>
        <p:spPr>
          <a:xfrm>
            <a:off x="602279" y="1113911"/>
            <a:ext cx="7939442" cy="709865"/>
          </a:xfrm>
        </p:spPr>
        <p:txBody>
          <a:bodyPr/>
          <a:lstStyle/>
          <a:p>
            <a:r>
              <a:rPr lang="en-US" b="1" dirty="0"/>
              <a:t>Feature Engineering</a:t>
            </a:r>
            <a:endParaRPr lang="en-US" dirty="0"/>
          </a:p>
        </p:txBody>
      </p:sp>
      <p:sp>
        <p:nvSpPr>
          <p:cNvPr id="4" name="Rectangle 1">
            <a:extLst>
              <a:ext uri="{FF2B5EF4-FFF2-40B4-BE49-F238E27FC236}">
                <a16:creationId xmlns:a16="http://schemas.microsoft.com/office/drawing/2014/main" id="{17A2E83E-FC4C-82C0-E572-CABA2CB227D2}"/>
              </a:ext>
            </a:extLst>
          </p:cNvPr>
          <p:cNvSpPr>
            <a:spLocks noGrp="1" noChangeArrowheads="1"/>
          </p:cNvSpPr>
          <p:nvPr>
            <p:ph idx="1"/>
          </p:nvPr>
        </p:nvSpPr>
        <p:spPr bwMode="auto">
          <a:xfrm>
            <a:off x="309381" y="3211312"/>
            <a:ext cx="6886549" cy="213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dirty="0"/>
          </a:p>
          <a:p>
            <a:pPr marL="0" indent="0">
              <a:buNone/>
            </a:pPr>
            <a:r>
              <a:rPr lang="en-US" b="1" dirty="0"/>
              <a:t>Feature 78 – Perplexity Using Arabic GPT-2 (AraGPT2-base)</a:t>
            </a:r>
          </a:p>
          <a:p>
            <a:r>
              <a:rPr lang="en-US" dirty="0"/>
              <a:t>This feature is computationally expensive but highly informative because it directly evaluates text coherence under an Arabic language model.</a:t>
            </a:r>
          </a:p>
          <a:p>
            <a:pPr marL="0" indent="0">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6684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724B7-B470-B185-0067-85C4FE180DA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492A538-0335-1D24-03C1-4CFF73B734F7}"/>
              </a:ext>
            </a:extLst>
          </p:cNvPr>
          <p:cNvSpPr>
            <a:spLocks noGrp="1"/>
          </p:cNvSpPr>
          <p:nvPr>
            <p:ph type="title"/>
          </p:nvPr>
        </p:nvSpPr>
        <p:spPr>
          <a:xfrm>
            <a:off x="109330" y="1113911"/>
            <a:ext cx="7939442" cy="709865"/>
          </a:xfrm>
        </p:spPr>
        <p:txBody>
          <a:bodyPr/>
          <a:lstStyle/>
          <a:p>
            <a:r>
              <a:rPr lang="en-US" dirty="0"/>
              <a:t>Classical Machine Learning Models</a:t>
            </a:r>
          </a:p>
        </p:txBody>
      </p:sp>
      <p:sp>
        <p:nvSpPr>
          <p:cNvPr id="4" name="Rectangle 1">
            <a:extLst>
              <a:ext uri="{FF2B5EF4-FFF2-40B4-BE49-F238E27FC236}">
                <a16:creationId xmlns:a16="http://schemas.microsoft.com/office/drawing/2014/main" id="{C844785E-2287-B8B0-6B9F-1F3689652739}"/>
              </a:ext>
            </a:extLst>
          </p:cNvPr>
          <p:cNvSpPr>
            <a:spLocks noGrp="1" noChangeArrowheads="1"/>
          </p:cNvSpPr>
          <p:nvPr>
            <p:ph idx="1"/>
          </p:nvPr>
        </p:nvSpPr>
        <p:spPr bwMode="auto">
          <a:xfrm>
            <a:off x="309381" y="3339552"/>
            <a:ext cx="6886549" cy="1882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Logistic Regression (Baseline Model)</a:t>
            </a:r>
            <a:endParaRPr lang="en-US" dirty="0"/>
          </a:p>
          <a:p>
            <a:pPr marL="0" indent="0">
              <a:buNone/>
            </a:pPr>
            <a:r>
              <a:rPr lang="en-US" dirty="0"/>
              <a:t>Logistic Regression was selected as the baseline due to its strong performance on high-dimensional sparse text representations. Using TF-IDF features, the classifier was trained to separate the two classes (AI-generated vs. human-written) through simple linear decision boundaries</a:t>
            </a:r>
            <a:r>
              <a:rPr lang="ar-SA" dirty="0"/>
              <a:t>.</a:t>
            </a:r>
            <a:endParaRPr lang="en-US" dirty="0"/>
          </a:p>
        </p:txBody>
      </p:sp>
    </p:spTree>
    <p:extLst>
      <p:ext uri="{BB962C8B-B14F-4D97-AF65-F5344CB8AC3E}">
        <p14:creationId xmlns:p14="http://schemas.microsoft.com/office/powerpoint/2010/main" val="2723256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ABE5D-C90E-0935-CE23-74953E5E43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EBA8FD-301B-8E04-ECDA-CCC55BBA1FDC}"/>
              </a:ext>
            </a:extLst>
          </p:cNvPr>
          <p:cNvSpPr>
            <a:spLocks noGrp="1"/>
          </p:cNvSpPr>
          <p:nvPr>
            <p:ph type="title"/>
          </p:nvPr>
        </p:nvSpPr>
        <p:spPr>
          <a:xfrm>
            <a:off x="109330" y="1113911"/>
            <a:ext cx="7939442" cy="709865"/>
          </a:xfrm>
        </p:spPr>
        <p:txBody>
          <a:bodyPr/>
          <a:lstStyle/>
          <a:p>
            <a:r>
              <a:rPr lang="en-US" dirty="0"/>
              <a:t>Classical Machine Learning Models</a:t>
            </a:r>
          </a:p>
        </p:txBody>
      </p:sp>
      <p:sp>
        <p:nvSpPr>
          <p:cNvPr id="4" name="Rectangle 1">
            <a:extLst>
              <a:ext uri="{FF2B5EF4-FFF2-40B4-BE49-F238E27FC236}">
                <a16:creationId xmlns:a16="http://schemas.microsoft.com/office/drawing/2014/main" id="{9BCF45B3-BB9E-AF09-1C7E-6C4A8F29B018}"/>
              </a:ext>
            </a:extLst>
          </p:cNvPr>
          <p:cNvSpPr>
            <a:spLocks noGrp="1" noChangeArrowheads="1"/>
          </p:cNvSpPr>
          <p:nvPr>
            <p:ph idx="1"/>
          </p:nvPr>
        </p:nvSpPr>
        <p:spPr bwMode="auto">
          <a:xfrm>
            <a:off x="309381" y="2454696"/>
            <a:ext cx="6886549" cy="3652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Support Vector Machine</a:t>
            </a:r>
            <a:endParaRPr lang="en-US" dirty="0"/>
          </a:p>
          <a:p>
            <a:r>
              <a:rPr lang="en-US" dirty="0"/>
              <a:t>To accelerate training and improve generalization, SVM was coupled with </a:t>
            </a:r>
            <a:r>
              <a:rPr lang="en-US" b="1" dirty="0"/>
              <a:t>Truncated SVD</a:t>
            </a:r>
            <a:r>
              <a:rPr lang="en-US" dirty="0"/>
              <a:t> (Latent Semantic Analysis) to reduce the feature space.</a:t>
            </a:r>
          </a:p>
          <a:p>
            <a:r>
              <a:rPr lang="en-US" dirty="0"/>
              <a:t>Truncated SVD projects the high-dimensional TF-IDF matrix into a 300-dimensional latent space, capturing semantic structure while improving training speed. </a:t>
            </a:r>
          </a:p>
          <a:p>
            <a:r>
              <a:rPr lang="en-US" dirty="0"/>
              <a:t>This pipeline enables the Linear SVM model to operate more efficiently on large datasets without sacrificing much accuracy.</a:t>
            </a:r>
          </a:p>
          <a:p>
            <a:pPr marL="0" indent="0">
              <a:buNone/>
            </a:pPr>
            <a:endParaRPr lang="en-US" dirty="0"/>
          </a:p>
        </p:txBody>
      </p:sp>
    </p:spTree>
    <p:extLst>
      <p:ext uri="{BB962C8B-B14F-4D97-AF65-F5344CB8AC3E}">
        <p14:creationId xmlns:p14="http://schemas.microsoft.com/office/powerpoint/2010/main" val="3145798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3F2F0-DBCD-83CD-5AFF-37B3D75B451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B58A6E0-CB38-1691-8E1D-C6AD5CF201A3}"/>
              </a:ext>
            </a:extLst>
          </p:cNvPr>
          <p:cNvSpPr>
            <a:spLocks noGrp="1"/>
          </p:cNvSpPr>
          <p:nvPr>
            <p:ph type="title"/>
          </p:nvPr>
        </p:nvSpPr>
        <p:spPr>
          <a:xfrm>
            <a:off x="109330" y="1113911"/>
            <a:ext cx="7939442" cy="709865"/>
          </a:xfrm>
        </p:spPr>
        <p:txBody>
          <a:bodyPr/>
          <a:lstStyle/>
          <a:p>
            <a:r>
              <a:rPr lang="en-US" dirty="0"/>
              <a:t>Classical Machine Learning Models</a:t>
            </a:r>
          </a:p>
        </p:txBody>
      </p:sp>
      <p:sp>
        <p:nvSpPr>
          <p:cNvPr id="4" name="Rectangle 1">
            <a:extLst>
              <a:ext uri="{FF2B5EF4-FFF2-40B4-BE49-F238E27FC236}">
                <a16:creationId xmlns:a16="http://schemas.microsoft.com/office/drawing/2014/main" id="{434023F6-CC42-C116-B9AA-87656CD7058A}"/>
              </a:ext>
            </a:extLst>
          </p:cNvPr>
          <p:cNvSpPr>
            <a:spLocks noGrp="1" noChangeArrowheads="1"/>
          </p:cNvSpPr>
          <p:nvPr>
            <p:ph idx="1"/>
          </p:nvPr>
        </p:nvSpPr>
        <p:spPr bwMode="auto">
          <a:xfrm>
            <a:off x="309381" y="2795816"/>
            <a:ext cx="6886549"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XGBoost Classifier</a:t>
            </a:r>
            <a:endParaRPr lang="en-US" dirty="0"/>
          </a:p>
          <a:p>
            <a:r>
              <a:rPr lang="en-US" dirty="0"/>
              <a:t>XGBoost was used as an advanced ensemble method optimized for handling large and sparse TF-IDF vectors. It builds successive boosted decision trees that correct previous errors.</a:t>
            </a:r>
          </a:p>
          <a:p>
            <a:r>
              <a:rPr lang="en-US" dirty="0"/>
              <a:t>Its scalability and ability to model non-linear patterns make XGBoost especially suitable for stylistically diverse AI-generated texts.</a:t>
            </a:r>
          </a:p>
          <a:p>
            <a:pPr marL="0" indent="0">
              <a:buNone/>
            </a:pPr>
            <a:endParaRPr lang="en-US" dirty="0"/>
          </a:p>
        </p:txBody>
      </p:sp>
    </p:spTree>
    <p:extLst>
      <p:ext uri="{BB962C8B-B14F-4D97-AF65-F5344CB8AC3E}">
        <p14:creationId xmlns:p14="http://schemas.microsoft.com/office/powerpoint/2010/main" val="2157876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3C8F0-98CE-CE9B-ACA7-FC80F9E069D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2AF3E2B-665E-3D4B-DB91-96D1CADD7616}"/>
              </a:ext>
            </a:extLst>
          </p:cNvPr>
          <p:cNvSpPr>
            <a:spLocks noGrp="1"/>
          </p:cNvSpPr>
          <p:nvPr>
            <p:ph type="title"/>
          </p:nvPr>
        </p:nvSpPr>
        <p:spPr>
          <a:xfrm>
            <a:off x="109330" y="1113911"/>
            <a:ext cx="7384774" cy="709865"/>
          </a:xfrm>
        </p:spPr>
        <p:txBody>
          <a:bodyPr>
            <a:normAutofit fontScale="90000"/>
          </a:bodyPr>
          <a:lstStyle/>
          <a:p>
            <a:r>
              <a:rPr lang="en-US" dirty="0"/>
              <a:t>Feedforward Neural Network (FFNN)</a:t>
            </a:r>
          </a:p>
        </p:txBody>
      </p:sp>
      <p:sp>
        <p:nvSpPr>
          <p:cNvPr id="4" name="Rectangle 1">
            <a:extLst>
              <a:ext uri="{FF2B5EF4-FFF2-40B4-BE49-F238E27FC236}">
                <a16:creationId xmlns:a16="http://schemas.microsoft.com/office/drawing/2014/main" id="{7B27E60F-905E-A726-8284-E5E084588249}"/>
              </a:ext>
            </a:extLst>
          </p:cNvPr>
          <p:cNvSpPr>
            <a:spLocks noGrp="1" noChangeArrowheads="1"/>
          </p:cNvSpPr>
          <p:nvPr>
            <p:ph idx="1"/>
          </p:nvPr>
        </p:nvSpPr>
        <p:spPr bwMode="auto">
          <a:xfrm>
            <a:off x="309381" y="3136935"/>
            <a:ext cx="6886549" cy="2287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buNone/>
            </a:pPr>
            <a:r>
              <a:rPr lang="en-US" dirty="0"/>
              <a:t>Two strategies were used:</a:t>
            </a:r>
            <a:endParaRPr lang="en-US" b="1" dirty="0"/>
          </a:p>
          <a:p>
            <a:pPr lvl="0"/>
            <a:r>
              <a:rPr lang="en-US" b="1" dirty="0"/>
              <a:t>Fixed BERT embeddings:</a:t>
            </a:r>
            <a:br>
              <a:rPr lang="en-US" dirty="0"/>
            </a:br>
            <a:r>
              <a:rPr lang="en-US" dirty="0"/>
              <a:t>BERT is used as a feature extractor, and the embeddings are passed to a fully connected network.</a:t>
            </a:r>
          </a:p>
          <a:p>
            <a:pPr lvl="0"/>
            <a:r>
              <a:rPr lang="en-US" b="1" dirty="0"/>
              <a:t>Fine-tuned BERT model:</a:t>
            </a:r>
            <a:br>
              <a:rPr lang="en-US" dirty="0"/>
            </a:br>
            <a:r>
              <a:rPr lang="en-US" dirty="0"/>
              <a:t>The pre-trained BERT model is fine-tuned directly on the classification task to optimize contextual representations.</a:t>
            </a:r>
          </a:p>
        </p:txBody>
      </p:sp>
    </p:spTree>
    <p:extLst>
      <p:ext uri="{BB962C8B-B14F-4D97-AF65-F5344CB8AC3E}">
        <p14:creationId xmlns:p14="http://schemas.microsoft.com/office/powerpoint/2010/main" val="3249077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CF2E4-1C11-748C-415D-7B00BD2227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E60ECA1-35B5-82C9-7071-E5E83F7E4F76}"/>
              </a:ext>
            </a:extLst>
          </p:cNvPr>
          <p:cNvSpPr>
            <a:spLocks noGrp="1"/>
          </p:cNvSpPr>
          <p:nvPr>
            <p:ph type="title"/>
          </p:nvPr>
        </p:nvSpPr>
        <p:spPr>
          <a:xfrm>
            <a:off x="109330" y="1113911"/>
            <a:ext cx="7384774" cy="709865"/>
          </a:xfrm>
        </p:spPr>
        <p:txBody>
          <a:bodyPr>
            <a:normAutofit fontScale="90000"/>
          </a:bodyPr>
          <a:lstStyle/>
          <a:p>
            <a:r>
              <a:rPr lang="en-US" dirty="0"/>
              <a:t>Feedforward Neural Network (FFNN)</a:t>
            </a:r>
          </a:p>
        </p:txBody>
      </p:sp>
      <p:sp>
        <p:nvSpPr>
          <p:cNvPr id="4" name="Rectangle 1">
            <a:extLst>
              <a:ext uri="{FF2B5EF4-FFF2-40B4-BE49-F238E27FC236}">
                <a16:creationId xmlns:a16="http://schemas.microsoft.com/office/drawing/2014/main" id="{C881F734-D188-0CAA-F4E9-6992BF7BD1E8}"/>
              </a:ext>
            </a:extLst>
          </p:cNvPr>
          <p:cNvSpPr>
            <a:spLocks noGrp="1" noChangeArrowheads="1"/>
          </p:cNvSpPr>
          <p:nvPr>
            <p:ph idx="1"/>
          </p:nvPr>
        </p:nvSpPr>
        <p:spPr bwMode="auto">
          <a:xfrm>
            <a:off x="309381" y="3488313"/>
            <a:ext cx="6886549"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a:t>The FFNN structure includes:</a:t>
            </a:r>
          </a:p>
          <a:p>
            <a:pPr lvl="0"/>
            <a:r>
              <a:rPr lang="en-US" dirty="0"/>
              <a:t>Dense layer (ReLU activation)</a:t>
            </a:r>
          </a:p>
          <a:p>
            <a:pPr lvl="0"/>
            <a:r>
              <a:rPr lang="en-US" dirty="0"/>
              <a:t>Dropout regularization</a:t>
            </a:r>
          </a:p>
          <a:p>
            <a:pPr lvl="0"/>
            <a:r>
              <a:rPr lang="en-US" dirty="0"/>
              <a:t>Output sigmoid layer (binary classification)</a:t>
            </a:r>
          </a:p>
        </p:txBody>
      </p:sp>
    </p:spTree>
    <p:extLst>
      <p:ext uri="{BB962C8B-B14F-4D97-AF65-F5344CB8AC3E}">
        <p14:creationId xmlns:p14="http://schemas.microsoft.com/office/powerpoint/2010/main" val="2363624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4E1B3-A434-A845-F5C5-7166471316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5EB0CD-3BB9-0D50-7A8C-7804F3093931}"/>
              </a:ext>
            </a:extLst>
          </p:cNvPr>
          <p:cNvSpPr>
            <a:spLocks noGrp="1"/>
          </p:cNvSpPr>
          <p:nvPr>
            <p:ph type="title"/>
          </p:nvPr>
        </p:nvSpPr>
        <p:spPr>
          <a:xfrm>
            <a:off x="602279" y="1113911"/>
            <a:ext cx="7939442" cy="709865"/>
          </a:xfrm>
        </p:spPr>
        <p:txBody>
          <a:bodyPr/>
          <a:lstStyle/>
          <a:p>
            <a:r>
              <a:rPr lang="en-US" b="1" dirty="0"/>
              <a:t>Models Results</a:t>
            </a:r>
            <a:endParaRPr lang="en-US" dirty="0"/>
          </a:p>
        </p:txBody>
      </p:sp>
      <p:graphicFrame>
        <p:nvGraphicFramePr>
          <p:cNvPr id="2" name="Table 1">
            <a:extLst>
              <a:ext uri="{FF2B5EF4-FFF2-40B4-BE49-F238E27FC236}">
                <a16:creationId xmlns:a16="http://schemas.microsoft.com/office/drawing/2014/main" id="{3E0B90E3-3C01-D308-7D68-C542C2845246}"/>
              </a:ext>
            </a:extLst>
          </p:cNvPr>
          <p:cNvGraphicFramePr>
            <a:graphicFrameLocks noGrp="1"/>
          </p:cNvGraphicFramePr>
          <p:nvPr>
            <p:extLst>
              <p:ext uri="{D42A27DB-BD31-4B8C-83A1-F6EECF244321}">
                <p14:modId xmlns:p14="http://schemas.microsoft.com/office/powerpoint/2010/main" val="1215687442"/>
              </p:ext>
            </p:extLst>
          </p:nvPr>
        </p:nvGraphicFramePr>
        <p:xfrm>
          <a:off x="844826" y="2514600"/>
          <a:ext cx="5754757" cy="2842595"/>
        </p:xfrm>
        <a:graphic>
          <a:graphicData uri="http://schemas.openxmlformats.org/drawingml/2006/table">
            <a:tbl>
              <a:tblPr firstRow="1" firstCol="1" bandRow="1">
                <a:tableStyleId>{5C22544A-7EE6-4342-B048-85BDC9FD1C3A}</a:tableStyleId>
              </a:tblPr>
              <a:tblGrid>
                <a:gridCol w="3807660">
                  <a:extLst>
                    <a:ext uri="{9D8B030D-6E8A-4147-A177-3AD203B41FA5}">
                      <a16:colId xmlns:a16="http://schemas.microsoft.com/office/drawing/2014/main" val="2115983124"/>
                    </a:ext>
                  </a:extLst>
                </a:gridCol>
                <a:gridCol w="1947097">
                  <a:extLst>
                    <a:ext uri="{9D8B030D-6E8A-4147-A177-3AD203B41FA5}">
                      <a16:colId xmlns:a16="http://schemas.microsoft.com/office/drawing/2014/main" val="956385464"/>
                    </a:ext>
                  </a:extLst>
                </a:gridCol>
              </a:tblGrid>
              <a:tr h="568519">
                <a:tc>
                  <a:txBody>
                    <a:bodyPr/>
                    <a:lstStyle/>
                    <a:p>
                      <a:pPr marL="0" marR="0" algn="just" rtl="0">
                        <a:lnSpc>
                          <a:spcPct val="107000"/>
                        </a:lnSpc>
                        <a:spcAft>
                          <a:spcPts val="800"/>
                        </a:spcAft>
                        <a:buNone/>
                      </a:pPr>
                      <a:r>
                        <a:rPr lang="en-US" sz="1200">
                          <a:effectLst/>
                        </a:rPr>
                        <a:t>Model</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just" rtl="0">
                        <a:lnSpc>
                          <a:spcPct val="107000"/>
                        </a:lnSpc>
                        <a:spcAft>
                          <a:spcPts val="800"/>
                        </a:spcAft>
                        <a:buNone/>
                      </a:pPr>
                      <a:r>
                        <a:rPr lang="en-US" sz="1200">
                          <a:effectLst/>
                        </a:rPr>
                        <a:t>Accuracy</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27027003"/>
                  </a:ext>
                </a:extLst>
              </a:tr>
              <a:tr h="568519">
                <a:tc>
                  <a:txBody>
                    <a:bodyPr/>
                    <a:lstStyle/>
                    <a:p>
                      <a:pPr marL="0" marR="0" algn="just" rtl="0">
                        <a:lnSpc>
                          <a:spcPct val="107000"/>
                        </a:lnSpc>
                        <a:spcAft>
                          <a:spcPts val="800"/>
                        </a:spcAft>
                        <a:buNone/>
                      </a:pPr>
                      <a:r>
                        <a:rPr lang="en-US" sz="1200">
                          <a:effectLst/>
                        </a:rPr>
                        <a:t>Logistic Regression</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just" rtl="0">
                        <a:lnSpc>
                          <a:spcPct val="107000"/>
                        </a:lnSpc>
                        <a:spcAft>
                          <a:spcPts val="800"/>
                        </a:spcAft>
                        <a:buNone/>
                      </a:pPr>
                      <a:r>
                        <a:rPr lang="en-US" sz="1200">
                          <a:effectLst/>
                        </a:rPr>
                        <a:t>0.9628</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866668264"/>
                  </a:ext>
                </a:extLst>
              </a:tr>
              <a:tr h="568519">
                <a:tc>
                  <a:txBody>
                    <a:bodyPr/>
                    <a:lstStyle/>
                    <a:p>
                      <a:pPr marL="0" marR="0" algn="just" rtl="0">
                        <a:lnSpc>
                          <a:spcPct val="107000"/>
                        </a:lnSpc>
                        <a:spcAft>
                          <a:spcPts val="800"/>
                        </a:spcAft>
                        <a:buNone/>
                      </a:pPr>
                      <a:r>
                        <a:rPr lang="en-US" sz="1200">
                          <a:effectLst/>
                        </a:rPr>
                        <a:t>SVM</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just" rtl="0">
                        <a:lnSpc>
                          <a:spcPct val="107000"/>
                        </a:lnSpc>
                        <a:spcAft>
                          <a:spcPts val="800"/>
                        </a:spcAft>
                        <a:buNone/>
                      </a:pPr>
                      <a:r>
                        <a:rPr lang="en-US" sz="1200">
                          <a:effectLst/>
                        </a:rPr>
                        <a:t>0.9433</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940329361"/>
                  </a:ext>
                </a:extLst>
              </a:tr>
              <a:tr h="568519">
                <a:tc>
                  <a:txBody>
                    <a:bodyPr/>
                    <a:lstStyle/>
                    <a:p>
                      <a:pPr marL="0" marR="0" algn="just" rtl="0">
                        <a:lnSpc>
                          <a:spcPct val="107000"/>
                        </a:lnSpc>
                        <a:spcAft>
                          <a:spcPts val="800"/>
                        </a:spcAft>
                        <a:buNone/>
                      </a:pPr>
                      <a:r>
                        <a:rPr lang="en-US" sz="1200" dirty="0">
                          <a:effectLst/>
                        </a:rPr>
                        <a:t>XGBoost</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just" rtl="0">
                        <a:lnSpc>
                          <a:spcPct val="107000"/>
                        </a:lnSpc>
                        <a:spcAft>
                          <a:spcPts val="800"/>
                        </a:spcAft>
                        <a:buNone/>
                      </a:pPr>
                      <a:r>
                        <a:rPr lang="en-US" sz="1200">
                          <a:effectLst/>
                        </a:rPr>
                        <a:t>0.9739</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326204686"/>
                  </a:ext>
                </a:extLst>
              </a:tr>
              <a:tr h="568519">
                <a:tc>
                  <a:txBody>
                    <a:bodyPr/>
                    <a:lstStyle/>
                    <a:p>
                      <a:pPr marL="0" marR="0" algn="just" rtl="0">
                        <a:lnSpc>
                          <a:spcPct val="107000"/>
                        </a:lnSpc>
                        <a:spcAft>
                          <a:spcPts val="800"/>
                        </a:spcAft>
                        <a:buNone/>
                      </a:pPr>
                      <a:r>
                        <a:rPr lang="en-US" sz="1200" dirty="0">
                          <a:effectLst/>
                        </a:rPr>
                        <a:t>Deep Learning</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just" rtl="0">
                        <a:lnSpc>
                          <a:spcPct val="107000"/>
                        </a:lnSpc>
                        <a:spcAft>
                          <a:spcPts val="800"/>
                        </a:spcAft>
                        <a:buNone/>
                      </a:pPr>
                      <a:r>
                        <a:rPr lang="en-US" sz="1200" dirty="0">
                          <a:effectLst/>
                        </a:rPr>
                        <a:t>0.87</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893328690"/>
                  </a:ext>
                </a:extLst>
              </a:tr>
            </a:tbl>
          </a:graphicData>
        </a:graphic>
      </p:graphicFrame>
    </p:spTree>
    <p:extLst>
      <p:ext uri="{BB962C8B-B14F-4D97-AF65-F5344CB8AC3E}">
        <p14:creationId xmlns:p14="http://schemas.microsoft.com/office/powerpoint/2010/main" val="4214059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23794-7572-C002-4B61-DFCC316CF63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77EA239-BBB6-D707-5A1F-4F841267AAF7}"/>
              </a:ext>
            </a:extLst>
          </p:cNvPr>
          <p:cNvSpPr>
            <a:spLocks noGrp="1"/>
          </p:cNvSpPr>
          <p:nvPr>
            <p:ph type="title"/>
          </p:nvPr>
        </p:nvSpPr>
        <p:spPr>
          <a:xfrm>
            <a:off x="547099" y="877428"/>
            <a:ext cx="7939442" cy="709865"/>
          </a:xfrm>
        </p:spPr>
        <p:txBody>
          <a:bodyPr/>
          <a:lstStyle/>
          <a:p>
            <a:r>
              <a:rPr lang="en-US" b="1" dirty="0"/>
              <a:t>Discussion</a:t>
            </a:r>
          </a:p>
        </p:txBody>
      </p:sp>
      <p:sp>
        <p:nvSpPr>
          <p:cNvPr id="4" name="Rectangle 1">
            <a:extLst>
              <a:ext uri="{FF2B5EF4-FFF2-40B4-BE49-F238E27FC236}">
                <a16:creationId xmlns:a16="http://schemas.microsoft.com/office/drawing/2014/main" id="{A63C4720-4020-3711-28C4-A35D547DD23B}"/>
              </a:ext>
            </a:extLst>
          </p:cNvPr>
          <p:cNvSpPr>
            <a:spLocks noGrp="1" noChangeArrowheads="1"/>
          </p:cNvSpPr>
          <p:nvPr>
            <p:ph idx="1"/>
          </p:nvPr>
        </p:nvSpPr>
        <p:spPr bwMode="auto">
          <a:xfrm>
            <a:off x="467139" y="3300419"/>
            <a:ext cx="572493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The results confirm that embedding-based classification is highly</a:t>
            </a:r>
            <a:r>
              <a:rPr lang="en-US" b="1" dirty="0"/>
              <a:t> </a:t>
            </a:r>
            <a:r>
              <a:rPr lang="en-US" dirty="0"/>
              <a:t>present highest accuracy</a:t>
            </a:r>
            <a:r>
              <a:rPr lang="en-US" b="1" dirty="0"/>
              <a:t> </a:t>
            </a:r>
            <a:r>
              <a:rPr lang="en-US" dirty="0"/>
              <a:t>for AI-text detection in Arabic, as the XGBoost model, which presents the highest performance.</a:t>
            </a:r>
          </a:p>
        </p:txBody>
      </p:sp>
    </p:spTree>
    <p:extLst>
      <p:ext uri="{BB962C8B-B14F-4D97-AF65-F5344CB8AC3E}">
        <p14:creationId xmlns:p14="http://schemas.microsoft.com/office/powerpoint/2010/main" val="2408957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AA806-E393-A97F-1FE0-1C6F649F2F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648A5E-73E3-11E3-AC74-89049D477AF5}"/>
              </a:ext>
            </a:extLst>
          </p:cNvPr>
          <p:cNvSpPr>
            <a:spLocks noGrp="1"/>
          </p:cNvSpPr>
          <p:nvPr>
            <p:ph type="title"/>
          </p:nvPr>
        </p:nvSpPr>
        <p:spPr>
          <a:xfrm>
            <a:off x="602279" y="953485"/>
            <a:ext cx="7939442" cy="709865"/>
          </a:xfrm>
        </p:spPr>
        <p:txBody>
          <a:bodyPr/>
          <a:lstStyle/>
          <a:p>
            <a:r>
              <a:rPr lang="en-US" b="1" dirty="0"/>
              <a:t>Conclusion</a:t>
            </a:r>
            <a:endParaRPr lang="en-US" dirty="0"/>
          </a:p>
        </p:txBody>
      </p:sp>
      <p:sp>
        <p:nvSpPr>
          <p:cNvPr id="4" name="Rectangle 1">
            <a:extLst>
              <a:ext uri="{FF2B5EF4-FFF2-40B4-BE49-F238E27FC236}">
                <a16:creationId xmlns:a16="http://schemas.microsoft.com/office/drawing/2014/main" id="{882ABD49-25CE-57E7-78B1-20BC7E6E38E5}"/>
              </a:ext>
            </a:extLst>
          </p:cNvPr>
          <p:cNvSpPr>
            <a:spLocks noGrp="1" noChangeArrowheads="1"/>
          </p:cNvSpPr>
          <p:nvPr>
            <p:ph idx="1"/>
          </p:nvPr>
        </p:nvSpPr>
        <p:spPr bwMode="auto">
          <a:xfrm>
            <a:off x="467139" y="2384717"/>
            <a:ext cx="8676861" cy="2564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This study explored the effectiveness of multiple machine-learning and neural models for detecting AI-generated Arabic text.</a:t>
            </a:r>
          </a:p>
          <a:p>
            <a:r>
              <a:rPr lang="en-US" dirty="0"/>
              <a:t> Logistic Regression provided a strong and efficient baseline, SVM offered competitive performance with reduced computational requirements, and XGBoost delivered the best accuracy. </a:t>
            </a:r>
          </a:p>
          <a:p>
            <a:r>
              <a:rPr lang="en-US" dirty="0"/>
              <a:t>The Feedforward Neural Network built on BERT embeddings presents the value of contextual representations in capturing subtle differences between human and AI writing styles.</a:t>
            </a:r>
          </a:p>
        </p:txBody>
      </p:sp>
    </p:spTree>
    <p:extLst>
      <p:ext uri="{BB962C8B-B14F-4D97-AF65-F5344CB8AC3E}">
        <p14:creationId xmlns:p14="http://schemas.microsoft.com/office/powerpoint/2010/main" val="4123707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0E041-39CA-F128-1BE8-E9A9B45C0BD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8A7C33-60C6-3E8E-73F7-6818E269192A}"/>
              </a:ext>
            </a:extLst>
          </p:cNvPr>
          <p:cNvSpPr>
            <a:spLocks noGrp="1"/>
          </p:cNvSpPr>
          <p:nvPr>
            <p:ph type="title"/>
          </p:nvPr>
        </p:nvSpPr>
        <p:spPr>
          <a:xfrm>
            <a:off x="602279" y="953485"/>
            <a:ext cx="7939442" cy="709865"/>
          </a:xfrm>
        </p:spPr>
        <p:txBody>
          <a:bodyPr/>
          <a:lstStyle/>
          <a:p>
            <a:r>
              <a:rPr lang="en-US" b="1" dirty="0"/>
              <a:t>Future Work</a:t>
            </a:r>
            <a:endParaRPr lang="en-US" dirty="0"/>
          </a:p>
        </p:txBody>
      </p:sp>
      <p:sp>
        <p:nvSpPr>
          <p:cNvPr id="4" name="Rectangle 1">
            <a:extLst>
              <a:ext uri="{FF2B5EF4-FFF2-40B4-BE49-F238E27FC236}">
                <a16:creationId xmlns:a16="http://schemas.microsoft.com/office/drawing/2014/main" id="{76B9BAE5-3013-1058-A1C3-D4035ED5E487}"/>
              </a:ext>
            </a:extLst>
          </p:cNvPr>
          <p:cNvSpPr>
            <a:spLocks noGrp="1" noChangeArrowheads="1"/>
          </p:cNvSpPr>
          <p:nvPr>
            <p:ph idx="1"/>
          </p:nvPr>
        </p:nvSpPr>
        <p:spPr bwMode="auto">
          <a:xfrm>
            <a:off x="467139" y="3286074"/>
            <a:ext cx="8676861"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Cross-Domain and Cross-Language Generalization</a:t>
            </a:r>
          </a:p>
          <a:p>
            <a:r>
              <a:rPr lang="en-US" dirty="0"/>
              <a:t>Real-Time Inference Optimization.</a:t>
            </a:r>
          </a:p>
          <a:p>
            <a:r>
              <a:rPr lang="en-US" dirty="0"/>
              <a:t>Automated Feature Discovery and Neural Feature Selection</a:t>
            </a:r>
          </a:p>
          <a:p>
            <a:r>
              <a:rPr lang="en-US" dirty="0"/>
              <a:t>Robustness and Adversarial Evaluation.</a:t>
            </a:r>
          </a:p>
        </p:txBody>
      </p:sp>
    </p:spTree>
    <p:extLst>
      <p:ext uri="{BB962C8B-B14F-4D97-AF65-F5344CB8AC3E}">
        <p14:creationId xmlns:p14="http://schemas.microsoft.com/office/powerpoint/2010/main" val="1609007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C6F2D-C8BB-B672-741E-B11E2D833220}"/>
              </a:ext>
            </a:extLst>
          </p:cNvPr>
          <p:cNvSpPr>
            <a:spLocks noGrp="1"/>
          </p:cNvSpPr>
          <p:nvPr>
            <p:ph type="title"/>
          </p:nvPr>
        </p:nvSpPr>
        <p:spPr>
          <a:xfrm>
            <a:off x="865970" y="927098"/>
            <a:ext cx="7313934" cy="709865"/>
          </a:xfrm>
        </p:spPr>
        <p:txBody>
          <a:bodyPr/>
          <a:lstStyle/>
          <a:p>
            <a:r>
              <a:rPr lang="en-US" b="1" dirty="0"/>
              <a:t>References</a:t>
            </a:r>
          </a:p>
        </p:txBody>
      </p:sp>
      <p:sp>
        <p:nvSpPr>
          <p:cNvPr id="3" name="Content Placeholder 2">
            <a:extLst>
              <a:ext uri="{FF2B5EF4-FFF2-40B4-BE49-F238E27FC236}">
                <a16:creationId xmlns:a16="http://schemas.microsoft.com/office/drawing/2014/main" id="{C521D08B-888D-A738-DED8-2453F59B9769}"/>
              </a:ext>
            </a:extLst>
          </p:cNvPr>
          <p:cNvSpPr>
            <a:spLocks noGrp="1"/>
          </p:cNvSpPr>
          <p:nvPr>
            <p:ph idx="1"/>
          </p:nvPr>
        </p:nvSpPr>
        <p:spPr>
          <a:xfrm>
            <a:off x="218662" y="2141330"/>
            <a:ext cx="7066722" cy="3530600"/>
          </a:xfrm>
        </p:spPr>
        <p:txBody>
          <a:bodyPr>
            <a:normAutofit fontScale="77500" lnSpcReduction="20000"/>
          </a:bodyPr>
          <a:lstStyle/>
          <a:p>
            <a:r>
              <a:rPr lang="en-US" dirty="0" err="1"/>
              <a:t>Abudalfa</a:t>
            </a:r>
            <a:r>
              <a:rPr lang="en-US" dirty="0"/>
              <a:t>, S., </a:t>
            </a:r>
            <a:r>
              <a:rPr lang="en-US" dirty="0" err="1"/>
              <a:t>Ezzini</a:t>
            </a:r>
            <a:r>
              <a:rPr lang="en-US" dirty="0"/>
              <a:t>, S., Abdelali, A., Alami, H., </a:t>
            </a:r>
            <a:r>
              <a:rPr lang="en-US" dirty="0" err="1"/>
              <a:t>Benlahbib</a:t>
            </a:r>
            <a:r>
              <a:rPr lang="en-US" dirty="0"/>
              <a:t>, A., Chafik, S., … Luqman, H. (2025). </a:t>
            </a:r>
            <a:r>
              <a:rPr lang="en-US" i="1" dirty="0"/>
              <a:t>The </a:t>
            </a:r>
            <a:r>
              <a:rPr lang="en-US" i="1" dirty="0" err="1"/>
              <a:t>AraGenEval</a:t>
            </a:r>
            <a:r>
              <a:rPr lang="en-US" i="1" dirty="0"/>
              <a:t> Shared Task on Arabic Authorship Style Transfer and AI Generated Text Detection</a:t>
            </a:r>
            <a:r>
              <a:rPr lang="en-US" dirty="0"/>
              <a:t>. In </a:t>
            </a:r>
            <a:r>
              <a:rPr lang="en-US" i="1" dirty="0"/>
              <a:t>Proceedings of The Third Arabic Natural Language Processing Conference: Shared Tasks</a:t>
            </a:r>
            <a:r>
              <a:rPr lang="en-US" dirty="0"/>
              <a:t> (pp. 1–13). Association for Computational Linguistics. </a:t>
            </a:r>
            <a:r>
              <a:rPr lang="en-US" u="sng" dirty="0">
                <a:hlinkClick r:id="rId2"/>
              </a:rPr>
              <a:t>https://aclanthology.org/2025.arabicnlp-sharedtasks.1/?utm_source=chatgpt.com</a:t>
            </a:r>
            <a:endParaRPr lang="en-US" dirty="0"/>
          </a:p>
          <a:p>
            <a:r>
              <a:rPr lang="en-US" dirty="0"/>
              <a:t>Alghamdi, N. S., &amp; </a:t>
            </a:r>
            <a:r>
              <a:rPr lang="en-US" dirty="0" err="1"/>
              <a:t>Alowibdi</a:t>
            </a:r>
            <a:r>
              <a:rPr lang="en-US" dirty="0"/>
              <a:t>, J. S. (2024). Distinguishing Arabic GenAI-generated Tweets and Human Tweets utilizing Machine Learning. </a:t>
            </a:r>
            <a:r>
              <a:rPr lang="en-US" i="1" dirty="0"/>
              <a:t>Engineering, Technology &amp; Applied Science Research, 14</a:t>
            </a:r>
            <a:r>
              <a:rPr lang="en-US" dirty="0"/>
              <a:t>(5), 16720–16726. https://doi.org/10.48084/etasr.8249</a:t>
            </a:r>
          </a:p>
          <a:p>
            <a:r>
              <a:rPr lang="en-US" dirty="0"/>
              <a:t>Alshammari, H., &amp; El-Sayed, A. (2023). </a:t>
            </a:r>
            <a:r>
              <a:rPr lang="en-US" i="1" dirty="0"/>
              <a:t>AIRABIC: A Benchmark Corpus for Arabic AI-Generated Text Detection</a:t>
            </a:r>
            <a:r>
              <a:rPr lang="en-US" dirty="0"/>
              <a:t>. [Dataset / Paper]</a:t>
            </a:r>
          </a:p>
          <a:p>
            <a:r>
              <a:rPr lang="en-US" dirty="0"/>
              <a:t>Devlin, J., Chang, M.-W., Lee, K., &amp; Toutanova, K. (2019). BERT: Pre-training of deep bidirectional transformers for language understanding. </a:t>
            </a:r>
            <a:r>
              <a:rPr lang="en-US" i="1" dirty="0"/>
              <a:t>NAACL-HLT</a:t>
            </a:r>
            <a:r>
              <a:rPr lang="en-US" dirty="0"/>
              <a:t>, 4171–4186.</a:t>
            </a:r>
          </a:p>
          <a:p>
            <a:r>
              <a:rPr lang="en-US" dirty="0"/>
              <a:t>Dong, W., Zhang, L., &amp; Yang, J. (2020). Ensemble learning for text classification: A review. </a:t>
            </a:r>
            <a:r>
              <a:rPr lang="en-US" i="1" dirty="0"/>
              <a:t>IEEE Access, 8</a:t>
            </a:r>
            <a:r>
              <a:rPr lang="en-US" dirty="0"/>
              <a:t>, 209050–209064.</a:t>
            </a:r>
          </a:p>
        </p:txBody>
      </p:sp>
    </p:spTree>
    <p:extLst>
      <p:ext uri="{BB962C8B-B14F-4D97-AF65-F5344CB8AC3E}">
        <p14:creationId xmlns:p14="http://schemas.microsoft.com/office/powerpoint/2010/main" val="422697608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174</TotalTime>
  <Words>913</Words>
  <Application>Microsoft Office PowerPoint</Application>
  <PresentationFormat>On-screen Show (4:3)</PresentationFormat>
  <Paragraphs>77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Trebuchet MS</vt:lpstr>
      <vt:lpstr>Wingdings 3</vt:lpstr>
      <vt:lpstr>Facet</vt:lpstr>
      <vt:lpstr>PowerPoint Presentation</vt:lpstr>
      <vt:lpstr>Introduction   </vt:lpstr>
      <vt:lpstr>Dataset</vt:lpstr>
      <vt:lpstr>Feature Engineering</vt:lpstr>
      <vt:lpstr>Feature Engineering</vt:lpstr>
      <vt:lpstr>Feature Engineering</vt:lpstr>
      <vt:lpstr>Classical Machine Learning Models</vt:lpstr>
      <vt:lpstr>Classical Machine Learning Models</vt:lpstr>
      <vt:lpstr>Classical Machine Learning Models</vt:lpstr>
      <vt:lpstr>Feedforward Neural Network (FFNN)</vt:lpstr>
      <vt:lpstr>Feedforward Neural Network (FFNN)</vt:lpstr>
      <vt:lpstr>Models Results</vt:lpstr>
      <vt:lpstr>Discussion</vt:lpstr>
      <vt:lpstr>Conclusion</vt:lpstr>
      <vt:lpstr>Future Work</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Maryam Gaber</dc:creator>
  <cp:keywords/>
  <dc:description>generated using python-pptx</dc:description>
  <cp:lastModifiedBy>Maryam Gaber</cp:lastModifiedBy>
  <cp:revision>9</cp:revision>
  <dcterms:created xsi:type="dcterms:W3CDTF">2013-01-27T09:14:16Z</dcterms:created>
  <dcterms:modified xsi:type="dcterms:W3CDTF">2025-12-07T09:38:22Z</dcterms:modified>
  <cp:category/>
</cp:coreProperties>
</file>